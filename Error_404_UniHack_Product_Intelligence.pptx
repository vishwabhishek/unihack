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D8FEA94-81C1-4A61-BB69-D95B0549A74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CFF44C-09E3-41D0-9E7F-B43C96A742D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6356F-F998-40AF-BB74-F1A4790797C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CA59AA-34CD-48C3-AE74-0115D723CFF0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ACB2E0-3100-4B69-90C4-486E87A6703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E21AB9-4DB6-4280-B511-90120F33350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55DEE3B-587C-474E-B6FD-C2E3A5E9BF30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7E0EB23-70A2-49F4-943C-7BD880E0636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B47A316-7865-4F5D-9E22-9569CC41DC3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2029A56-7C54-48A1-9F6D-8C3141E14D0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EEB972C-8E72-4D2A-8AA3-515BBB81071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CD82365-45CE-4B74-9E02-020DA5A07F3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9EE0C967-1A3F-416D-8760-E2D0F7A77A9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EEED870-A847-4D02-8F43-7BE8984CDBB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D9F7ED1-829D-4031-A9D0-CB9EC326600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E85E2B1B-B220-4EE5-B00A-4C5D994E5C3D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ACAFF35-73AF-4773-8BBB-07482B517CB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61073C1-7402-4F20-AFEC-3B2E63A66BAB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15D9154-177F-44F4-A8AF-6FD6F04C8908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77D7F07-9181-4E6B-BFA5-4B9EA2875191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EC96FBB-945C-459A-B8C1-9069982DF800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1D77E93A-09AB-40CE-A524-27CA97B80898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942112-6503-41B2-ADAC-5F43AE33FF2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A502EA-5443-41E5-8FBB-D0CC4D836E3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6DDC19-3404-4BA8-BB7A-DFB463EA0BB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88D8CC-E132-42AF-BE5E-107681A6277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ADB958-28E4-45C5-AEC9-41C831D651B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4F3457-A383-45EF-87A1-2200727D0DB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2D91C2-6D23-4F53-BBEA-4A0883DEDF4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77BB04-FBA5-4AE2-8DE9-C19CB99603E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42D651-5B9D-4FD5-8FB0-AF1BC139EB6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4EC669-B515-4BEE-A449-9483B677678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C2C49C-7787-46E1-B023-6576893CA01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C3A759-BCBE-4927-A5E7-54B2C9B2EAF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003A65-915E-4F0E-BB0A-5599070E3D8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D8FE08-E93B-455B-90BE-2393C6B9C08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8348DB-44E6-437C-B115-42100152FE8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48D841-E844-4616-B312-0C5B6EC9EDB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13BD54-E2F1-420B-A3AA-224A4237C1F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86D8DB-E7F0-4C17-AB11-80E6F86BCD1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F141B3-7CAE-4FBB-AB30-32FDC73CC08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790AAD-0BD8-4F2E-9EB1-81EF2EFB24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81;p2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617E51-8D85-47D0-B646-17A80169293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C59B34-78A4-4710-BBD2-0F688C56B7A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85640" y="351000"/>
            <a:ext cx="2429640" cy="25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30" spc="-1" strike="noStrike">
                <a:solidFill>
                  <a:srgbClr val="37d9d0"/>
                </a:solidFill>
                <a:latin typeface="Arial"/>
              </a:rPr>
              <a:t>UNI HACK 2026</a:t>
            </a:r>
            <a:endParaRPr b="1" lang="en-US" sz="11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85640" y="607320"/>
            <a:ext cx="5129640" cy="9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930" spc="-1" strike="noStrike">
                <a:solidFill>
                  <a:srgbClr val="f4f7fa"/>
                </a:solidFill>
                <a:latin typeface="Arial"/>
              </a:rPr>
              <a:t>Evidence-First</a:t>
            </a:r>
            <a:endParaRPr b="1" lang="en-US" sz="2930" spc="-1" strike="noStrike">
              <a:solidFill>
                <a:srgbClr val="f4f7fa"/>
              </a:solidFill>
              <a:latin typeface="Arial"/>
            </a:endParaRPr>
          </a:p>
          <a:p>
            <a:r>
              <a:rPr b="1" lang="en-US" sz="2930" spc="-1" strike="noStrike">
                <a:solidFill>
                  <a:srgbClr val="f4f7fa"/>
                </a:solidFill>
                <a:latin typeface="Arial"/>
              </a:rPr>
              <a:t>Product Intelligence</a:t>
            </a:r>
            <a:endParaRPr b="1" lang="en-US" sz="293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85640" y="1485000"/>
            <a:ext cx="4778640" cy="47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50" spc="-1" strike="noStrike">
                <a:solidFill>
                  <a:srgbClr val="a7b8c8"/>
                </a:solidFill>
                <a:latin typeface="Arial"/>
              </a:rPr>
              <a:t>Turning fragmented industrial product data into structured, traceable, commerce-ready intelligence.</a:t>
            </a:r>
            <a:endParaRPr b="0" lang="en-US" sz="13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85640" y="2133000"/>
            <a:ext cx="2699640" cy="162000"/>
          </a:xfrm>
          <a:prstGeom prst="roundRect">
            <a:avLst/>
          </a:prstGeom>
          <a:solidFill>
            <a:srgbClr val="152b4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18040" y="2167920"/>
            <a:ext cx="2634840" cy="21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AI-POWERED PRODUCT INTELLIGENCE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939640" y="567000"/>
            <a:ext cx="2267640" cy="2538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182640" y="837000"/>
            <a:ext cx="178164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SUPPLIER DATA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668640" y="1053000"/>
            <a:ext cx="80964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2700" spc="-1" strike="noStrike">
                <a:solidFill>
                  <a:srgbClr val="f4f7fa"/>
                </a:solidFill>
                <a:latin typeface="Arial"/>
              </a:rPr>
              <a:t>→</a:t>
            </a:r>
            <a:endParaRPr b="1" lang="en-US" sz="27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182640" y="1431000"/>
            <a:ext cx="1781640" cy="79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650" spc="-1" strike="noStrike">
                <a:solidFill>
                  <a:srgbClr val="20bf78"/>
                </a:solidFill>
                <a:latin typeface="Arial"/>
              </a:rPr>
              <a:t>VERIFIED</a:t>
            </a:r>
            <a:endParaRPr b="1" lang="en-US" sz="1650" spc="-1" strike="noStrike">
              <a:solidFill>
                <a:srgbClr val="20bf78"/>
              </a:solidFill>
              <a:latin typeface="Arial"/>
            </a:endParaRPr>
          </a:p>
          <a:p>
            <a:pPr algn="r"/>
            <a:r>
              <a:rPr b="1" lang="en-US" sz="1650" spc="-1" strike="noStrike">
                <a:solidFill>
                  <a:srgbClr val="20bf78"/>
                </a:solidFill>
                <a:latin typeface="Arial"/>
              </a:rPr>
              <a:t>PRODUCT RECORD</a:t>
            </a:r>
            <a:endParaRPr b="1" lang="en-US" sz="165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182640" y="2214000"/>
            <a:ext cx="178164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50" spc="-1" strike="noStrike">
                <a:solidFill>
                  <a:srgbClr val="a7b8c8"/>
                </a:solidFill>
                <a:latin typeface="Arial"/>
              </a:rPr>
              <a:t>Official evidence • Gemini extraction • Human validation</a:t>
            </a:r>
            <a:endParaRPr b="0" lang="en-US" sz="10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85640" y="4260600"/>
            <a:ext cx="2699640" cy="28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50" spc="-1" strike="noStrike">
                <a:solidFill>
                  <a:srgbClr val="f4f7fa"/>
                </a:solidFill>
                <a:latin typeface="Arial"/>
              </a:rPr>
              <a:t>Team Error 404</a:t>
            </a:r>
            <a:endParaRPr b="1" lang="en-US" sz="13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85640" y="4428000"/>
            <a:ext cx="2969640" cy="25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37d9d0"/>
                </a:solidFill>
                <a:latin typeface="Arial"/>
              </a:rPr>
              <a:t>Abhishek Vishwakarma</a:t>
            </a:r>
            <a:endParaRPr b="0" lang="en-US" sz="11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45320" y="4840920"/>
            <a:ext cx="2969640" cy="19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248320" y="4840920"/>
            <a:ext cx="431640" cy="19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01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THE OPPORTUNITY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Industrial data is abundant.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Trustworthy product intelligence is not.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85640" y="1269000"/>
            <a:ext cx="178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61240" y="1344600"/>
            <a:ext cx="163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INPUT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61240" y="1701000"/>
            <a:ext cx="1630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Supplier spreadsheets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Limited descriptions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Inconsistent brands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32320" y="1269000"/>
            <a:ext cx="178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e76f5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707920" y="1344600"/>
            <a:ext cx="163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e76f51"/>
                </a:solidFill>
                <a:latin typeface="Arial"/>
              </a:rPr>
              <a:t>FRICTION</a:t>
            </a:r>
            <a:endParaRPr b="1" lang="en-US" sz="1280" spc="-1" strike="noStrike">
              <a:solidFill>
                <a:srgbClr val="e76f51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707920" y="1701000"/>
            <a:ext cx="1630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Manual research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Unverified attributes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Slow catalog onboarding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778640" y="1269000"/>
            <a:ext cx="178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854240" y="1344600"/>
            <a:ext cx="163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IMPACT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854240" y="1701000"/>
            <a:ext cx="163044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Poor discovery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Incorrect orders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Delayed commerce readiness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85640" y="2241000"/>
            <a:ext cx="7478640" cy="5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f4f7fa"/>
                </a:solidFill>
                <a:latin typeface="Arial"/>
              </a:rPr>
              <a:t>The challenge is not generating text. It is generating reliable product intelligence with proof.</a:t>
            </a:r>
            <a:endParaRPr b="1" lang="en-US" sz="15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02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PROBLEM STATEMENT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45320" y="378000"/>
            <a:ext cx="80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From six raw fields to a 252-column delivery standard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85640" y="1201320"/>
            <a:ext cx="3509640" cy="2295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c4b63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47640" y="1377000"/>
            <a:ext cx="242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f4b942"/>
                </a:solidFill>
                <a:latin typeface="Arial"/>
              </a:rPr>
              <a:t>RAW SUPPLIER INPUT</a:t>
            </a:r>
            <a:endParaRPr b="1" lang="en-US" sz="120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47640" y="16333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88040" y="163332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Part number and free-text description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47640" y="18979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88040" y="189792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Conflicting distributor/ERP brand labels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47640" y="21625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88040" y="216252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Sparse or missing technical specifications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47640" y="24271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88040" y="242712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No field-level proof for commerce output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900320" y="1201320"/>
            <a:ext cx="3509640" cy="2295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c4b63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062320" y="1377000"/>
            <a:ext cx="242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20bf78"/>
                </a:solidFill>
                <a:latin typeface="Arial"/>
              </a:rPr>
              <a:t>REQUIRED DELIVERY</a:t>
            </a:r>
            <a:endParaRPr b="1" lang="en-US" sz="120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062320" y="16333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202720" y="163332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Canonical identity and taxonomy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062320" y="18979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202720" y="189792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Controlled LOV attributes and normalized UOM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062320" y="21625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202720" y="216252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Five content tiers and digital assets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062320" y="24271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202720" y="242712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252-column, traceable PIM entity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85640" y="3888000"/>
            <a:ext cx="755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80" spc="-1" strike="noStrike">
                <a:solidFill>
                  <a:srgbClr val="37d9d0"/>
                </a:solidFill>
                <a:latin typeface="Arial"/>
              </a:rPr>
              <a:t>Our answer: do not fill every blank. Fill only what evidence can defend.</a:t>
            </a:r>
            <a:endParaRPr b="1" lang="en-US" sz="15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03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OUR SOLUTION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UniHack Simplifi: evidence-first enrichment with human control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45320" y="972000"/>
            <a:ext cx="7883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a7b8c8"/>
                </a:solidFill>
                <a:latin typeface="Arial"/>
              </a:rPr>
              <a:t>An operational workbench, not a black-box content generator.</a:t>
            </a:r>
            <a:endParaRPr b="0" lang="en-US" sz="113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58640" y="1336320"/>
            <a:ext cx="1403640" cy="1107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53320" y="1444320"/>
            <a:ext cx="242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20" spc="-1" strike="noStrike">
                <a:solidFill>
                  <a:srgbClr val="f4b942"/>
                </a:solidFill>
                <a:latin typeface="Arial"/>
              </a:rPr>
              <a:t>1</a:t>
            </a:r>
            <a:endParaRPr b="1" lang="en-US" sz="202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53320" y="1701000"/>
            <a:ext cx="1187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f4f7fa"/>
                </a:solidFill>
                <a:latin typeface="Arial"/>
              </a:rPr>
              <a:t>INGEST</a:t>
            </a:r>
            <a:endParaRPr b="1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53320" y="1917000"/>
            <a:ext cx="1187640" cy="68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a7b8c8"/>
                </a:solidFill>
                <a:latin typeface="Arial"/>
              </a:rPr>
              <a:t>Raw supplier CSV and product identifiers</a:t>
            </a:r>
            <a:endParaRPr b="0" lang="en-US" sz="10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132640" y="1336320"/>
            <a:ext cx="1403640" cy="1107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227320" y="1444320"/>
            <a:ext cx="242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20" spc="-1" strike="noStrike">
                <a:solidFill>
                  <a:srgbClr val="37d9d0"/>
                </a:solidFill>
                <a:latin typeface="Arial"/>
              </a:rPr>
              <a:t>2</a:t>
            </a:r>
            <a:endParaRPr b="1" lang="en-US" sz="202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227320" y="1701000"/>
            <a:ext cx="1187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f4f7fa"/>
                </a:solidFill>
                <a:latin typeface="Arial"/>
              </a:rPr>
              <a:t>GROUND</a:t>
            </a:r>
            <a:endParaRPr b="1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227320" y="1917000"/>
            <a:ext cx="1187640" cy="68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a7b8c8"/>
                </a:solidFill>
                <a:latin typeface="Arial"/>
              </a:rPr>
              <a:t>Official manufacturer pages and spec sheets</a:t>
            </a:r>
            <a:endParaRPr b="0" lang="en-US" sz="10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806640" y="1336320"/>
            <a:ext cx="1403640" cy="1107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901320" y="1444320"/>
            <a:ext cx="242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20" spc="-1" strike="noStrike">
                <a:solidFill>
                  <a:srgbClr val="16a085"/>
                </a:solidFill>
                <a:latin typeface="Arial"/>
              </a:rPr>
              <a:t>3</a:t>
            </a:r>
            <a:endParaRPr b="1" lang="en-US" sz="2020" spc="-1" strike="noStrike">
              <a:solidFill>
                <a:srgbClr val="16a085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901320" y="1701000"/>
            <a:ext cx="1187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f4f7fa"/>
                </a:solidFill>
                <a:latin typeface="Arial"/>
              </a:rPr>
              <a:t>EXTRACT</a:t>
            </a:r>
            <a:endParaRPr b="1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901320" y="1917000"/>
            <a:ext cx="1187640" cy="68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a7b8c8"/>
                </a:solidFill>
                <a:latin typeface="Arial"/>
              </a:rPr>
              <a:t>Gemini structured extraction from source chunks</a:t>
            </a:r>
            <a:endParaRPr b="0" lang="en-US" sz="10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480640" y="1336320"/>
            <a:ext cx="1403640" cy="1107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575320" y="1444320"/>
            <a:ext cx="242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20" spc="-1" strike="noStrike">
                <a:solidFill>
                  <a:srgbClr val="20bf78"/>
                </a:solidFill>
                <a:latin typeface="Arial"/>
              </a:rPr>
              <a:t>4</a:t>
            </a:r>
            <a:endParaRPr b="1" lang="en-US" sz="202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575320" y="1701000"/>
            <a:ext cx="1187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f4f7fa"/>
                </a:solidFill>
                <a:latin typeface="Arial"/>
              </a:rPr>
              <a:t>VALIDATE</a:t>
            </a:r>
            <a:endParaRPr b="1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575320" y="1917000"/>
            <a:ext cx="118764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a7b8c8"/>
                </a:solidFill>
                <a:latin typeface="Arial"/>
              </a:rPr>
              <a:t>LOV, UOM, citation and conflict gates</a:t>
            </a:r>
            <a:endParaRPr b="0" lang="en-US" sz="10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154640" y="1336320"/>
            <a:ext cx="1403640" cy="1107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249320" y="1444320"/>
            <a:ext cx="242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20" spc="-1" strike="noStrike">
                <a:solidFill>
                  <a:srgbClr val="f4b942"/>
                </a:solidFill>
                <a:latin typeface="Arial"/>
              </a:rPr>
              <a:t>5</a:t>
            </a:r>
            <a:endParaRPr b="1" lang="en-US" sz="202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249320" y="1701000"/>
            <a:ext cx="1187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f4f7fa"/>
                </a:solidFill>
                <a:latin typeface="Arial"/>
              </a:rPr>
              <a:t>REVIEW</a:t>
            </a:r>
            <a:endParaRPr b="1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249320" y="1917000"/>
            <a:ext cx="118764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a7b8c8"/>
                </a:solidFill>
                <a:latin typeface="Arial"/>
              </a:rPr>
              <a:t>Human field-level approval and audit trail</a:t>
            </a:r>
            <a:endParaRPr b="0" lang="en-US" sz="10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04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END-TO-END WORKFLOW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45320" y="378000"/>
            <a:ext cx="80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Every published value follows a visible chain of trust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64320" y="1323000"/>
            <a:ext cx="205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39920" y="13986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Supplier Input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39920" y="17550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MPN + raw description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3199320" y="1323000"/>
            <a:ext cx="205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274920" y="13986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Official Evidence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274920" y="17550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URL / PDF + checksum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034320" y="1323000"/>
            <a:ext cx="205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109920" y="13986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16a085"/>
                </a:solidFill>
                <a:latin typeface="Arial"/>
              </a:rPr>
              <a:t>Gemini Extract</a:t>
            </a:r>
            <a:endParaRPr b="1" lang="en-US" sz="1280" spc="-1" strike="noStrike">
              <a:solidFill>
                <a:srgbClr val="16a085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109920" y="17550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Structured candidates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64320" y="2484000"/>
            <a:ext cx="205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39920" y="25596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20bf78"/>
                </a:solidFill>
                <a:latin typeface="Arial"/>
              </a:rPr>
              <a:t>Deterministic Gates</a:t>
            </a:r>
            <a:endParaRPr b="1" lang="en-US" sz="128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39920" y="29160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Citation + LOV + UOM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199320" y="2484000"/>
            <a:ext cx="205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274920" y="25596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Human Review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274920" y="29160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Resolve high-risk fields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034320" y="2484000"/>
            <a:ext cx="2051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109920" y="25596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20bf78"/>
                </a:solidFill>
                <a:latin typeface="Arial"/>
              </a:rPr>
              <a:t>Validated Output</a:t>
            </a:r>
            <a:endParaRPr b="1" lang="en-US" sz="128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109920" y="2916000"/>
            <a:ext cx="1900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252-column export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483640" y="151200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318640" y="151200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483640" y="267300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318640" y="267300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85640" y="3928320"/>
            <a:ext cx="75596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f7fa"/>
                </a:solidFill>
                <a:latin typeface="Arial"/>
              </a:rPr>
              <a:t>If evidence is insufficient, the product remains Unknown / Needs Review — never silently invented.</a:t>
            </a:r>
            <a:endParaRPr b="1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05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SYSTEM ARCHITECTURE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A modular backend built for provenance, governance, and scale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45320" y="1323000"/>
            <a:ext cx="2078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20920" y="1398600"/>
            <a:ext cx="1927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INTERFACE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20920" y="1755000"/>
            <a:ext cx="1927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React review workbench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Catalog • evidence • review • export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509640" y="1323000"/>
            <a:ext cx="2078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585240" y="1398600"/>
            <a:ext cx="1927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16a085"/>
                </a:solidFill>
                <a:latin typeface="Arial"/>
              </a:rPr>
              <a:t>APPLICATION API</a:t>
            </a:r>
            <a:endParaRPr b="1" lang="en-US" sz="1280" spc="-1" strike="noStrike">
              <a:solidFill>
                <a:srgbClr val="16a085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585240" y="1755000"/>
            <a:ext cx="1927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FastAPI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RBAC • CSRF • health • API contracts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574320" y="1323000"/>
            <a:ext cx="2078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649920" y="1398600"/>
            <a:ext cx="1927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20bf78"/>
                </a:solidFill>
                <a:latin typeface="Arial"/>
              </a:rPr>
              <a:t>INTELLIGENCE</a:t>
            </a:r>
            <a:endParaRPr b="1" lang="en-US" sz="128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649920" y="1755000"/>
            <a:ext cx="1927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Evidence registry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Gemini provider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LOV/UOM validation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624040" y="149832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691240" y="149832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943640" y="2781000"/>
            <a:ext cx="2078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019240" y="2856600"/>
            <a:ext cx="1927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PERSISTENCE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019240" y="3213000"/>
            <a:ext cx="1927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SQLite records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Audit trail • jobs • cache • exports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5129640" y="2781000"/>
            <a:ext cx="2078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205240" y="2856600"/>
            <a:ext cx="1927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DELIVERY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205240" y="3213000"/>
            <a:ext cx="1927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252-column CSV/XLSX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Checksum + export history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GEMINI’S ROLE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Gemini extracts candidates. Deterministic gates decide what is trusted.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85640" y="1255320"/>
            <a:ext cx="3671640" cy="2538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47640" y="1431000"/>
            <a:ext cx="26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GEMINI IS CONSTRAINED TO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47640" y="16873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88040" y="16873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Registered official source chunks only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47640" y="19519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788040" y="19519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Structured schema response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47640" y="22165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88040" y="22165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Exact citation excerpt per fact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47640" y="24811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88040" y="24811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Temperature 0 extraction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47640" y="27457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88040" y="2745720"/>
            <a:ext cx="277524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Cache keyed by source/model/schema/LOV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4697640" y="1255320"/>
            <a:ext cx="3671640" cy="2538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e76f5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859640" y="1431000"/>
            <a:ext cx="26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e76f51"/>
                </a:solidFill>
                <a:latin typeface="Arial"/>
              </a:rPr>
              <a:t>THE SYSTEM REJECTS</a:t>
            </a:r>
            <a:endParaRPr b="1" lang="en-US" sz="1200" spc="-1" strike="noStrike">
              <a:solidFill>
                <a:srgbClr val="e76f51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4859640" y="16873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000040" y="1687320"/>
            <a:ext cx="277524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Missing or mismatched evidence chunks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859640" y="19519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000040" y="19519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Quoted value absent from source text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859640" y="22165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000040" y="22165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MPN mismatch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859640" y="24811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000040" y="24811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Unsupported LOV/UOM values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859640" y="274572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5000040" y="2745720"/>
            <a:ext cx="2775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Conflicting or insufficient evidence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07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EVIDENCE &amp; PROVENANCE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A field is not just a value — it is a value with a source, excerpt, and status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485640" y="1255320"/>
            <a:ext cx="8180640" cy="2376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74640" y="1444320"/>
            <a:ext cx="242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50" spc="-1" strike="noStrike">
                <a:solidFill>
                  <a:srgbClr val="f4f7fa"/>
                </a:solidFill>
                <a:latin typeface="Arial"/>
              </a:rPr>
              <a:t>FIELD: Pressure Rating</a:t>
            </a:r>
            <a:endParaRPr b="1" lang="en-US" sz="13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614640" y="1409400"/>
            <a:ext cx="1160640" cy="162000"/>
          </a:xfrm>
          <a:prstGeom prst="roundRect">
            <a:avLst/>
          </a:prstGeom>
          <a:solidFill>
            <a:srgbClr val="152b40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6647040" y="1444320"/>
            <a:ext cx="10958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900" spc="-1" strike="noStrike">
                <a:solidFill>
                  <a:srgbClr val="20bf78"/>
                </a:solidFill>
                <a:latin typeface="Arial"/>
              </a:rPr>
              <a:t>VERIFIED</a:t>
            </a:r>
            <a:endParaRPr b="1" lang="en-US" sz="90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74640" y="1728000"/>
            <a:ext cx="175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80" spc="-1" strike="noStrike">
                <a:solidFill>
                  <a:srgbClr val="a7b8c8"/>
                </a:solidFill>
                <a:latin typeface="Arial"/>
              </a:rPr>
              <a:t>Candidate value</a:t>
            </a:r>
            <a:endParaRPr b="0" lang="en-US" sz="98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74640" y="1863000"/>
            <a:ext cx="175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29" spc="-1" strike="noStrike">
                <a:solidFill>
                  <a:srgbClr val="37d9d0"/>
                </a:solidFill>
                <a:latin typeface="Arial"/>
              </a:rPr>
              <a:t>200 psi</a:t>
            </a:r>
            <a:endParaRPr b="1" lang="en-US" sz="1729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74640" y="2160000"/>
            <a:ext cx="175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80" spc="-1" strike="noStrike">
                <a:solidFill>
                  <a:srgbClr val="a7b8c8"/>
                </a:solidFill>
                <a:latin typeface="Arial"/>
              </a:rPr>
              <a:t>Evidence excerpt</a:t>
            </a:r>
            <a:endParaRPr b="0" lang="en-US" sz="98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74640" y="2295000"/>
            <a:ext cx="512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50" spc="-1" strike="noStrike">
                <a:solidFill>
                  <a:srgbClr val="f4f7fa"/>
                </a:solidFill>
                <a:latin typeface="Arial"/>
              </a:rPr>
              <a:t>“</a:t>
            </a:r>
            <a:r>
              <a:rPr b="1" lang="en-US" sz="1350" spc="-1" strike="noStrike">
                <a:solidFill>
                  <a:srgbClr val="f4f7fa"/>
                </a:solidFill>
                <a:latin typeface="Arial"/>
              </a:rPr>
              <a:t>Maximum working pressure: 200 psi”</a:t>
            </a:r>
            <a:endParaRPr b="1" lang="en-US" sz="13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74640" y="2667600"/>
            <a:ext cx="175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80" spc="-1" strike="noStrike">
                <a:solidFill>
                  <a:srgbClr val="a7b8c8"/>
                </a:solidFill>
                <a:latin typeface="Arial"/>
              </a:rPr>
              <a:t>Source</a:t>
            </a:r>
            <a:endParaRPr b="0" lang="en-US" sz="98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74640" y="2802600"/>
            <a:ext cx="688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f4f7fa"/>
                </a:solidFill>
                <a:latin typeface="Arial"/>
              </a:rPr>
              <a:t>Official manufacturer specification sheet  •  page 2  •  SHA-256 recorded</a:t>
            </a:r>
            <a:endParaRPr b="0" lang="en-US" sz="113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74640" y="3213000"/>
            <a:ext cx="688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This gives reviewers a fast way to approve, edit, reject, or mark a fact unknown.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08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HUMAN-IN-THE-LOOP QUALITY GATE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Automation accelerates the work. Specialists retain release authority.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85640" y="1417320"/>
            <a:ext cx="2267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e76f5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61240" y="1492920"/>
            <a:ext cx="2116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e76f51"/>
                </a:solidFill>
                <a:latin typeface="Arial"/>
              </a:rPr>
              <a:t>High-risk fields</a:t>
            </a:r>
            <a:endParaRPr b="1" lang="en-US" sz="1280" spc="-1" strike="noStrike">
              <a:solidFill>
                <a:srgbClr val="e76f51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61240" y="1849320"/>
            <a:ext cx="2116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MPN • brand • manufacturer • taxonomy • invoice description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3293640" y="1417320"/>
            <a:ext cx="2267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3369240" y="1492920"/>
            <a:ext cx="2116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Reviewer actions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3369240" y="1849320"/>
            <a:ext cx="2116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Approve • edit • reject • mark unknown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6101640" y="1417320"/>
            <a:ext cx="2267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177240" y="1492920"/>
            <a:ext cx="2116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20bf78"/>
                </a:solidFill>
                <a:latin typeface="Arial"/>
              </a:rPr>
              <a:t>Promotion rule</a:t>
            </a:r>
            <a:endParaRPr b="1" lang="en-US" sz="128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6177240" y="1849320"/>
            <a:ext cx="2116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Validated only after every high-risk field is resolved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85640" y="2808000"/>
            <a:ext cx="80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350" spc="-1" strike="noStrike">
                <a:solidFill>
                  <a:srgbClr val="f4f7fa"/>
                </a:solidFill>
                <a:latin typeface="Arial"/>
              </a:rPr>
              <a:t>Every action records reviewer, timestamp, prior value, new value, justification, and audit event.</a:t>
            </a:r>
            <a:endParaRPr b="1" lang="en-US" sz="13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2321640" y="3159000"/>
            <a:ext cx="4481640" cy="864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c4b63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09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pic>
        <p:nvPicPr>
          <p:cNvPr id="287" name="Picture 286" descr="10_review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34440"/>
            <a:ext cx="4389120" cy="3167176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PRODUCT EXPERIENCE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45320" y="378000"/>
            <a:ext cx="80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A focused workbench for catalog specialists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72320" y="1188000"/>
            <a:ext cx="3860640" cy="2322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c4b63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4805640" y="1188000"/>
            <a:ext cx="3860640" cy="2322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c4b63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674640" y="3712320"/>
            <a:ext cx="129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30" spc="-1" strike="noStrike">
                <a:solidFill>
                  <a:srgbClr val="37d9d0"/>
                </a:solidFill>
                <a:latin typeface="Arial"/>
              </a:rPr>
              <a:t>Catalog Explorer</a:t>
            </a:r>
            <a:endParaRPr b="1" lang="en-US" sz="11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699640" y="3712320"/>
            <a:ext cx="161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30" spc="-1" strike="noStrike">
                <a:solidFill>
                  <a:srgbClr val="37d9d0"/>
                </a:solidFill>
                <a:latin typeface="Arial"/>
              </a:rPr>
              <a:t>Transformation Inspector</a:t>
            </a:r>
            <a:endParaRPr b="1" lang="en-US" sz="11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209640" y="3712320"/>
            <a:ext cx="1187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30" spc="-1" strike="noStrike">
                <a:solidFill>
                  <a:srgbClr val="37d9d0"/>
                </a:solidFill>
                <a:latin typeface="Arial"/>
              </a:rPr>
              <a:t>Evidence Inbox</a:t>
            </a:r>
            <a:endParaRPr b="1" lang="en-US" sz="11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10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pic>
        <p:nvPicPr>
          <p:cNvPr id="303" name="Picture 302" descr="05_transformation_inspector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840480" cy="2400300"/>
          </a:xfrm>
          <a:prstGeom prst="rect">
            <a:avLst/>
          </a:prstGeom>
        </p:spPr>
      </p:pic>
      <p:pic>
        <p:nvPicPr>
          <p:cNvPr id="304" name="Picture 303" descr="04b_catalog_rag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3840480" cy="4280535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COMMERCE-READY DELIVERY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From sparse input to a governed 252-column PIM deliverable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458640" y="1296000"/>
            <a:ext cx="1916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34240" y="13716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IDENTITY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34240" y="17280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Brand • manufacturer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MPN • SKU • taxonomy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2524320" y="1296000"/>
            <a:ext cx="1916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599920" y="13716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16a085"/>
                </a:solidFill>
                <a:latin typeface="Arial"/>
              </a:rPr>
              <a:t>CONTENT</a:t>
            </a:r>
            <a:endParaRPr b="1" lang="en-US" sz="1280" spc="-1" strike="noStrike">
              <a:solidFill>
                <a:srgbClr val="16a085"/>
              </a:solidFill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599920" y="17280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Invoice • mobile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short • long descriptions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4589640" y="1296000"/>
            <a:ext cx="1916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4665240" y="13716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20bf78"/>
                </a:solidFill>
                <a:latin typeface="Arial"/>
              </a:rPr>
              <a:t>SPECIFICATIONS</a:t>
            </a:r>
            <a:endParaRPr b="1" lang="en-US" sz="128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4665240" y="1728000"/>
            <a:ext cx="176544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LOV attributes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Normalized UOM • dimensions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655320" y="1296000"/>
            <a:ext cx="1916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6730920" y="13716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f4b942"/>
                </a:solidFill>
                <a:latin typeface="Arial"/>
              </a:rPr>
              <a:t>DELIVERY</a:t>
            </a:r>
            <a:endParaRPr b="1" lang="en-US" sz="128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730920" y="1728000"/>
            <a:ext cx="17654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CSV/XLSX export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980" spc="-1" strike="noStrike">
                <a:solidFill>
                  <a:srgbClr val="f4f7fa"/>
                </a:solidFill>
                <a:latin typeface="Arial"/>
              </a:rPr>
              <a:t>Checksum • history • audit</a:t>
            </a:r>
            <a:endParaRPr b="0" lang="en-US" sz="9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39640" y="2740320"/>
            <a:ext cx="7964640" cy="47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350" spc="-1" strike="noStrike">
                <a:solidFill>
                  <a:srgbClr val="f4f7fa"/>
                </a:solidFill>
                <a:latin typeface="Arial"/>
              </a:rPr>
              <a:t>Values without sufficient evidence remain blank or explicitly marked for review — protecting downstream commerce systems.</a:t>
            </a:r>
            <a:endParaRPr b="1" lang="en-US" sz="13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11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TRUST &amp; SECURITY BY DESIGN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Industrial data quality requires both model governance and application security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485640" y="1255320"/>
            <a:ext cx="3752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634320" y="1390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30" spc="-1" strike="noStrike">
                <a:solidFill>
                  <a:srgbClr val="37d9d0"/>
                </a:solidFill>
                <a:latin typeface="Arial"/>
              </a:rPr>
              <a:t>Secure access</a:t>
            </a:r>
            <a:endParaRPr b="1" lang="en-US" sz="14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34320" y="1606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f4f7fa"/>
                </a:solidFill>
                <a:latin typeface="Arial"/>
              </a:rPr>
              <a:t>Role-based access, HttpOnly session cookies, CSRF checks, token revocation</a:t>
            </a:r>
            <a:endParaRPr b="0" lang="en-US" sz="113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4724640" y="1255320"/>
            <a:ext cx="3752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4873320" y="1390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30" spc="-1" strike="noStrike">
                <a:solidFill>
                  <a:srgbClr val="20bf78"/>
                </a:solidFill>
                <a:latin typeface="Arial"/>
              </a:rPr>
              <a:t>Evidence safety</a:t>
            </a:r>
            <a:endParaRPr b="1" lang="en-US" sz="143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873320" y="1606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f4f7fa"/>
                </a:solidFill>
                <a:latin typeface="Arial"/>
              </a:rPr>
              <a:t>Manufacturer allowlist, SSRF protection, size/type checks, checksums</a:t>
            </a:r>
            <a:endParaRPr b="0" lang="en-US" sz="113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485640" y="2443320"/>
            <a:ext cx="3752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634320" y="2578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30" spc="-1" strike="noStrike">
                <a:solidFill>
                  <a:srgbClr val="f4b942"/>
                </a:solidFill>
                <a:latin typeface="Arial"/>
              </a:rPr>
              <a:t>Release controls</a:t>
            </a:r>
            <a:endParaRPr b="1" lang="en-US" sz="143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34320" y="2794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f4f7fa"/>
                </a:solidFill>
                <a:latin typeface="Arial"/>
              </a:rPr>
              <a:t>High-risk field gate, audit logs, export checksums, source lifecycle</a:t>
            </a:r>
            <a:endParaRPr b="0" lang="en-US" sz="113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4724640" y="2443320"/>
            <a:ext cx="3752640" cy="891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4873320" y="2578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30" spc="-1" strike="noStrike">
                <a:solidFill>
                  <a:srgbClr val="16a085"/>
                </a:solidFill>
                <a:latin typeface="Arial"/>
              </a:rPr>
              <a:t>Honest AI</a:t>
            </a:r>
            <a:endParaRPr b="1" lang="en-US" sz="1430" spc="-1" strike="noStrike">
              <a:solidFill>
                <a:srgbClr val="16a085"/>
              </a:solidFill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4873320" y="2794320"/>
            <a:ext cx="323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30" spc="-1" strike="noStrike">
                <a:solidFill>
                  <a:srgbClr val="f4f7fa"/>
                </a:solidFill>
                <a:latin typeface="Arial"/>
              </a:rPr>
              <a:t>Candidate ≠ verified, deterministic citation validation, human review</a:t>
            </a:r>
            <a:endParaRPr b="0" lang="en-US" sz="113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12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TRUTHFUL EVALUATION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We separate structural compliance from ground-truth accuracy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485640" y="1282320"/>
            <a:ext cx="3833640" cy="2214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74640" y="1458000"/>
            <a:ext cx="26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37d9d0"/>
                </a:solidFill>
                <a:latin typeface="Arial"/>
              </a:rPr>
              <a:t>ALWAYS MEASURABLE</a:t>
            </a:r>
            <a:endParaRPr b="1" lang="en-US" sz="12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74640" y="17280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815040" y="172800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252-column schema conformance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674640" y="19926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815040" y="199260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Invoice and mobile description hard gates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74640" y="22572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815040" y="225720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LOV/UOM validation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74640" y="25218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815040" y="252180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Evidence coverage and unresolved fields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4805640" y="1282320"/>
            <a:ext cx="3833640" cy="2214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f4b942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4994640" y="1458000"/>
            <a:ext cx="3023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f4b942"/>
                </a:solidFill>
                <a:latin typeface="Arial"/>
              </a:rPr>
              <a:t>ONLY WITH LABELLED MATCHES</a:t>
            </a:r>
            <a:endParaRPr b="1" lang="en-US" sz="1200" spc="-1" strike="noStrike">
              <a:solidFill>
                <a:srgbClr val="f4b942"/>
              </a:solidFill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4994640" y="17280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135040" y="172800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Exact-match accuracy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994640" y="19926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135040" y="199260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Description similarity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994640" y="22572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135040" y="2257200"/>
            <a:ext cx="26942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Attribute precision / recall / F1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994640" y="2521800"/>
            <a:ext cx="1213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•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135040" y="2521800"/>
            <a:ext cx="26942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No match → N/A, never a fabricated 100%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13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445320" y="248400"/>
            <a:ext cx="377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37d9d0"/>
                </a:solidFill>
                <a:latin typeface="Arial"/>
              </a:rPr>
              <a:t>PATH TO SCALE</a:t>
            </a:r>
            <a:endParaRPr b="1" lang="en-US" sz="90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445320" y="378000"/>
            <a:ext cx="8099640" cy="73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50" spc="-1" strike="noStrike">
                <a:solidFill>
                  <a:srgbClr val="f4f7fa"/>
                </a:solidFill>
                <a:latin typeface="Arial"/>
              </a:rPr>
              <a:t>Designed as a foundation for enterprise catalog operations</a:t>
            </a:r>
            <a:endParaRPr b="1" lang="en-US" sz="225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445320" y="1174320"/>
            <a:ext cx="8248320" cy="756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-40680" bIns="-40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593640" y="1431000"/>
            <a:ext cx="2240640" cy="1539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742320" y="1593000"/>
            <a:ext cx="188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350" spc="-1" strike="noStrike">
                <a:solidFill>
                  <a:srgbClr val="37d9d0"/>
                </a:solidFill>
                <a:latin typeface="Arial"/>
              </a:rPr>
              <a:t>NOW</a:t>
            </a:r>
            <a:endParaRPr b="1" lang="en-US" sz="135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82640" y="1863000"/>
            <a:ext cx="1862640" cy="7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1000-SKU prototype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Evidence-first workflow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Gemini + HITL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888640" y="194400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3347640" y="1431000"/>
            <a:ext cx="2240640" cy="1539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16a085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496320" y="1593000"/>
            <a:ext cx="188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350" spc="-1" strike="noStrike">
                <a:solidFill>
                  <a:srgbClr val="16a085"/>
                </a:solidFill>
                <a:latin typeface="Arial"/>
              </a:rPr>
              <a:t>NEXT</a:t>
            </a:r>
            <a:endParaRPr b="1" lang="en-US" sz="1350" spc="-1" strike="noStrike">
              <a:solidFill>
                <a:srgbClr val="16a085"/>
              </a:solidFill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536640" y="1863000"/>
            <a:ext cx="1862640" cy="7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Persistent job orchestration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Source lifecycle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Export history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642640" y="1944000"/>
            <a:ext cx="215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→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101640" y="1431000"/>
            <a:ext cx="2240640" cy="1539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20bf7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250320" y="1593000"/>
            <a:ext cx="188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350" spc="-1" strike="noStrike">
                <a:solidFill>
                  <a:srgbClr val="20bf78"/>
                </a:solidFill>
                <a:latin typeface="Arial"/>
              </a:rPr>
              <a:t>ENTERPRISE</a:t>
            </a:r>
            <a:endParaRPr b="1" lang="en-US" sz="1350" spc="-1" strike="noStrike">
              <a:solidFill>
                <a:srgbClr val="20bf78"/>
              </a:solidFill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290640" y="1863000"/>
            <a:ext cx="1862640" cy="7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Distributed workers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Vector retrieval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1" lang="en-US" sz="1200" spc="-1" strike="noStrike">
                <a:solidFill>
                  <a:srgbClr val="f4f7fa"/>
                </a:solidFill>
                <a:latin typeface="Arial"/>
              </a:rPr>
              <a:t>Multi-tenant governance</a:t>
            </a:r>
            <a:endParaRPr b="1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566640" y="3456000"/>
            <a:ext cx="7964640" cy="4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280" spc="-1" strike="noStrike">
                <a:solidFill>
                  <a:srgbClr val="a7b8c8"/>
                </a:solidFill>
                <a:latin typeface="Arial"/>
              </a:rPr>
              <a:t>The principle remains the same at every scale: evidence before automation, and humans before irreversible release.</a:t>
            </a:r>
            <a:endParaRPr b="0" lang="en-US" sz="128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14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8131f"/>
          </a:solidFill>
          <a:ln w="6480">
            <a:solidFill>
              <a:srgbClr val="08131f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0"/>
            <a:ext cx="113040" cy="5143680"/>
          </a:xfrm>
          <a:prstGeom prst="rect">
            <a:avLst/>
          </a:prstGeom>
          <a:solidFill>
            <a:srgbClr val="37d9d0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85640" y="513000"/>
            <a:ext cx="269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30" spc="-1" strike="noStrike">
                <a:solidFill>
                  <a:srgbClr val="37d9d0"/>
                </a:solidFill>
                <a:latin typeface="Arial"/>
              </a:rPr>
              <a:t>ERROR 404</a:t>
            </a:r>
            <a:endParaRPr b="1" lang="en-US" sz="113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485640" y="783000"/>
            <a:ext cx="5291640" cy="12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700" spc="-1" strike="noStrike">
                <a:solidFill>
                  <a:srgbClr val="f4f7fa"/>
                </a:solidFill>
                <a:latin typeface="Arial"/>
              </a:rPr>
              <a:t>Build commerce-ready</a:t>
            </a:r>
            <a:endParaRPr b="1" lang="en-US" sz="2700" spc="-1" strike="noStrike">
              <a:solidFill>
                <a:srgbClr val="f4f7fa"/>
              </a:solidFill>
              <a:latin typeface="Arial"/>
            </a:endParaRPr>
          </a:p>
          <a:p>
            <a:r>
              <a:rPr b="1" lang="en-US" sz="2700" spc="-1" strike="noStrike">
                <a:solidFill>
                  <a:srgbClr val="f4f7fa"/>
                </a:solidFill>
                <a:latin typeface="Arial"/>
              </a:rPr>
              <a:t>product intelligence</a:t>
            </a:r>
            <a:endParaRPr b="1" lang="en-US" sz="2700" spc="-1" strike="noStrike">
              <a:solidFill>
                <a:srgbClr val="f4f7fa"/>
              </a:solidFill>
              <a:latin typeface="Arial"/>
            </a:endParaRPr>
          </a:p>
          <a:p>
            <a:r>
              <a:rPr b="1" lang="en-US" sz="2700" spc="-1" strike="noStrike">
                <a:solidFill>
                  <a:srgbClr val="f4f7fa"/>
                </a:solidFill>
                <a:latin typeface="Arial"/>
              </a:rPr>
              <a:t>that can explain itself.</a:t>
            </a:r>
            <a:endParaRPr b="1" lang="en-US" sz="27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5885640" y="850320"/>
            <a:ext cx="2348640" cy="1809000"/>
          </a:xfrm>
          <a:prstGeom prst="roundRect">
            <a:avLst/>
          </a:prstGeom>
          <a:solidFill>
            <a:srgbClr val="102235"/>
          </a:solidFill>
          <a:ln w="6480">
            <a:solidFill>
              <a:srgbClr val="37d9d0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182640" y="1093320"/>
            <a:ext cx="175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280" spc="-1" strike="noStrike">
                <a:solidFill>
                  <a:srgbClr val="37d9d0"/>
                </a:solidFill>
                <a:latin typeface="Arial"/>
              </a:rPr>
              <a:t>DEMO FLOW</a:t>
            </a:r>
            <a:endParaRPr b="1" lang="en-US" sz="128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6182640" y="1363320"/>
            <a:ext cx="1754640" cy="13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1. Inspect raw input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2. Register official evidence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3. Extract &amp; validate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4. Review high-risk fields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  <a:p>
            <a:pPr algn="r"/>
            <a:r>
              <a:rPr b="0" lang="en-US" sz="1280" spc="-1" strike="noStrike">
                <a:solidFill>
                  <a:srgbClr val="f4f7fa"/>
                </a:solidFill>
                <a:latin typeface="Arial"/>
              </a:rPr>
              <a:t>5. Promote &amp; export</a:t>
            </a:r>
            <a:endParaRPr b="0" lang="en-US" sz="128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485640" y="3874320"/>
            <a:ext cx="2294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70" spc="-1" strike="noStrike">
                <a:solidFill>
                  <a:srgbClr val="37d9d0"/>
                </a:solidFill>
                <a:latin typeface="Arial"/>
              </a:rPr>
              <a:t>Thank you</a:t>
            </a:r>
            <a:endParaRPr b="1" lang="en-US" sz="1870" spc="-1" strike="noStrike">
              <a:solidFill>
                <a:srgbClr val="37d9d0"/>
              </a:solidFill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485640" y="4144320"/>
            <a:ext cx="431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f4f7fa"/>
                </a:solidFill>
                <a:latin typeface="Arial"/>
              </a:rPr>
              <a:t>Abhishek Vishwakarma  |  Team Error 404</a:t>
            </a:r>
            <a:endParaRPr b="0" lang="en-US" sz="1200" spc="-1" strike="noStrike">
              <a:solidFill>
                <a:srgbClr val="f4f7fa"/>
              </a:solidFill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445320" y="4840920"/>
            <a:ext cx="2969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ERROR 404  |  UNI HACK 2026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8248320" y="4840920"/>
            <a:ext cx="43164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1" lang="en-US" sz="750" spc="-1" strike="noStrike">
                <a:solidFill>
                  <a:srgbClr val="a7b8c8"/>
                </a:solidFill>
                <a:latin typeface="Arial"/>
              </a:rPr>
              <a:t>15</a:t>
            </a:r>
            <a:endParaRPr b="1" lang="en-US" sz="750" spc="-1" strike="noStrike">
              <a:solidFill>
                <a:srgbClr val="a7b8c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2026-08-22T13:41:49Z</dcterms:modified>
  <cp:revision>1</cp:revision>
  <dc:subject/>
  <dc:title/>
</cp:coreProperties>
</file>